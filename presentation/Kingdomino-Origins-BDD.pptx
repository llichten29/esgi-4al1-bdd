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519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Application qui simule Kingdomino Origins, spécifiée par des scénarios Gherkin exécutables.</a:t>
            </a:r>
          </a:p>
          <a:p>
            <a:r>
              <a:t>• Stack : Java 17, Maven, Cucumber 7, JUnit 5.</a:t>
            </a:r>
          </a:p>
          <a:p>
            <a:r>
              <a:t>• Au programme (8 min) : le jeu choisi, le périmètre implémenté, l'architecture.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Le sujet propose « Kingdomino » ; nous avons implémenté « Kingdomino Origins », l'édition enrichie de 2021.</a:t>
            </a:r>
          </a:p>
          <a:p>
            <a:r>
              <a:t>• Origins ajoute : volcans &amp; jetons Feu, ressources &amp; tuiles Totem, et des bonus.</a:t>
            </a:r>
          </a:p>
          <a:p>
            <a:r>
              <a:t>• But : construire son territoire 5×5 et marquer le plus de points.</a:t>
            </a:r>
          </a:p>
          <a:p>
            <a:r>
              <a:t>• On marque : chaque région rapporte (nombre de cases) × (nombre d'icônes Feu qu'elle contient).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Chaque joueur bâtit une grille 5×5 ; la tuile de départ (château) est au centre et sert de joker.</a:t>
            </a:r>
          </a:p>
          <a:p>
            <a:r>
              <a:t>• Un domino couvre 2 cases voisines ; on le relie à un terrain identique.</a:t>
            </a:r>
          </a:p>
          <a:p>
            <a:r>
              <a:t>• Score d'une région = nb de cases × nb d'icônes Feu ; le volcan rapporte 0 (mais donne des jetons Feu).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Périmètre large : quasiment tout le jeu, sur deux modes.</a:t>
            </a:r>
          </a:p>
          <a:p>
            <a:r>
              <a:t>• Mode Découverte : le socle complet (draft, placement, volcans &amp; feu, scoring).</a:t>
            </a:r>
          </a:p>
          <a:p>
            <a:r>
              <a:t>• Mode Totem : en plus, ressources et tuiles Totem à la majorité, scoring enrichi.</a:t>
            </a:r>
          </a:p>
          <a:p>
            <a:r>
              <a:t>• Bonus Empire du Feu / Homo Habilis. Hors périmètre (assumé) : Tribu et variante 2 joueurs.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Séparation stricte garantie par la structure Maven.</a:t>
            </a:r>
          </a:p>
          <a:p>
            <a:r>
              <a:t>• Domaine (src/main) : Java pur (plateau, tuiles, scoring, totems), sans aucune dépendance à Cucumber.</a:t>
            </a:r>
          </a:p>
          <a:p>
            <a:r>
              <a:t>• Steps (src/test) : orchestration seule ; ils appellent le domaine et vérifient (état partagé via PicoContainer).</a:t>
            </a:r>
          </a:p>
          <a:p>
            <a:r>
              <a:t>• Règle d'or : les steps appellent le domaine, jamais l'inverse.</a:t>
            </a:r>
          </a:p>
          <a:p>
            <a:r>
              <a:t>• Déterminisme : l'aléatoire de la pioche est neutralisé par une seed → parties reproductibles.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Kingdomino Origins : presque tout le jeu, sur deux modes.</a:t>
            </a:r>
          </a:p>
          <a:p>
            <a:r>
              <a:t>• Domaine pur découplé de Cucumber ; les steps orchestrent seulement.</a:t>
            </a:r>
          </a:p>
          <a:p>
            <a:r>
              <a:t>• Aléatoire neutralisé par une seed → parties reproductibles.</a:t>
            </a:r>
          </a:p>
          <a:p>
            <a:r>
              <a:t>• Transition : place à la démonstration (scénarios en direct).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0" y="457200"/>
            <a:ext cx="3429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 dirty="0">
                <a:solidFill>
                  <a:srgbClr val="C7BAA8"/>
                </a:solidFill>
                <a:latin typeface="Calibri"/>
              </a:rPr>
              <a:t>Lior </a:t>
            </a:r>
            <a:r>
              <a:rPr lang="fr-FR" sz="1200" b="1" i="0" dirty="0">
                <a:solidFill>
                  <a:srgbClr val="C7BAA8"/>
                </a:solidFill>
                <a:latin typeface="Calibri"/>
              </a:rPr>
              <a:t>LICHTEN</a:t>
            </a:r>
            <a:endParaRPr sz="1200" b="1" i="0" dirty="0">
              <a:solidFill>
                <a:srgbClr val="C7BAA8"/>
              </a:solidFill>
              <a:latin typeface="Calibri"/>
            </a:endParaRP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 dirty="0" err="1">
                <a:solidFill>
                  <a:srgbClr val="C7BAA8"/>
                </a:solidFill>
                <a:latin typeface="Calibri"/>
              </a:rPr>
              <a:t>Célian</a:t>
            </a:r>
            <a:r>
              <a:rPr sz="1200" b="1" i="0" dirty="0">
                <a:solidFill>
                  <a:srgbClr val="C7BAA8"/>
                </a:solidFill>
                <a:latin typeface="Calibri"/>
              </a:rPr>
              <a:t> VIGNAUD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 i="0" dirty="0">
                <a:solidFill>
                  <a:srgbClr val="C7BAA8"/>
                </a:solidFill>
                <a:latin typeface="Calibri"/>
              </a:rPr>
              <a:t>Thomas POUPARD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E8B048"/>
                </a:solidFill>
                <a:latin typeface="Calibri"/>
              </a:rPr>
              <a:t>PROJET BEHAVIOUR DRIVEN DEVELOPMENT — ESGI 4AL1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7455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800" b="1" i="0">
                <a:solidFill>
                  <a:srgbClr val="F4ECE1"/>
                </a:solidFill>
                <a:latin typeface="Cambria"/>
              </a:rPr>
              <a:t>Kingdomino </a:t>
            </a:r>
            <a:r>
              <a:rPr sz="5800" b="1" i="0">
                <a:solidFill>
                  <a:srgbClr val="E2673F"/>
                </a:solidFill>
                <a:latin typeface="Cambria"/>
              </a:rPr>
              <a:t>Origins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1">
                <a:solidFill>
                  <a:srgbClr val="C7BAA8"/>
                </a:solidFill>
                <a:latin typeface="Cambria"/>
              </a:rPr>
              <a:t>Un jeu de plateau simulé et spécifié par scénarios Gherkin</a:t>
            </a:r>
          </a:p>
        </p:txBody>
      </p:sp>
      <p:sp>
        <p:nvSpPr>
          <p:cNvPr id="7" name="Oval 6"/>
          <p:cNvSpPr/>
          <p:nvPr/>
        </p:nvSpPr>
        <p:spPr>
          <a:xfrm>
            <a:off x="3352647" y="4160520"/>
            <a:ext cx="960120" cy="960120"/>
          </a:xfrm>
          <a:prstGeom prst="ellipse">
            <a:avLst/>
          </a:prstGeom>
          <a:solidFill>
            <a:srgbClr val="2E2219"/>
          </a:solidFill>
          <a:ln w="19050">
            <a:solidFill>
              <a:srgbClr val="9DB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52647" y="4160520"/>
            <a:ext cx="9601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0" i="0">
                <a:solidFill>
                  <a:srgbClr val="F4ECE1"/>
                </a:solidFill>
                <a:latin typeface="Calibri"/>
              </a:rPr>
              <a:t>🏰</a:t>
            </a:r>
          </a:p>
        </p:txBody>
      </p:sp>
      <p:sp>
        <p:nvSpPr>
          <p:cNvPr id="9" name="Oval 8"/>
          <p:cNvSpPr/>
          <p:nvPr/>
        </p:nvSpPr>
        <p:spPr>
          <a:xfrm>
            <a:off x="4861407" y="4160520"/>
            <a:ext cx="960120" cy="960120"/>
          </a:xfrm>
          <a:prstGeom prst="ellipse">
            <a:avLst/>
          </a:prstGeom>
          <a:solidFill>
            <a:srgbClr val="2E2219"/>
          </a:solidFill>
          <a:ln w="19050">
            <a:solidFill>
              <a:srgbClr val="E267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61407" y="4160520"/>
            <a:ext cx="9601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0" i="0">
                <a:solidFill>
                  <a:srgbClr val="F4ECE1"/>
                </a:solidFill>
                <a:latin typeface="Calibri"/>
              </a:rPr>
              <a:t>🌋</a:t>
            </a:r>
          </a:p>
        </p:txBody>
      </p:sp>
      <p:sp>
        <p:nvSpPr>
          <p:cNvPr id="11" name="Oval 10"/>
          <p:cNvSpPr/>
          <p:nvPr/>
        </p:nvSpPr>
        <p:spPr>
          <a:xfrm>
            <a:off x="6370167" y="4160520"/>
            <a:ext cx="960120" cy="960120"/>
          </a:xfrm>
          <a:prstGeom prst="ellipse">
            <a:avLst/>
          </a:prstGeom>
          <a:solidFill>
            <a:srgbClr val="2E2219"/>
          </a:solidFill>
          <a:ln w="19050">
            <a:solidFill>
              <a:srgbClr val="E8B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0167" y="4160520"/>
            <a:ext cx="9601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0" i="0">
                <a:solidFill>
                  <a:srgbClr val="F4ECE1"/>
                </a:solidFill>
                <a:latin typeface="Calibri"/>
              </a:rPr>
              <a:t>🔥</a:t>
            </a:r>
          </a:p>
        </p:txBody>
      </p:sp>
      <p:sp>
        <p:nvSpPr>
          <p:cNvPr id="13" name="Oval 12"/>
          <p:cNvSpPr/>
          <p:nvPr/>
        </p:nvSpPr>
        <p:spPr>
          <a:xfrm>
            <a:off x="7878927" y="4160520"/>
            <a:ext cx="960120" cy="960120"/>
          </a:xfrm>
          <a:prstGeom prst="ellipse">
            <a:avLst/>
          </a:prstGeom>
          <a:solidFill>
            <a:srgbClr val="2E2219"/>
          </a:solidFill>
          <a:ln w="19050">
            <a:solidFill>
              <a:srgbClr val="B58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78927" y="4160520"/>
            <a:ext cx="9601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0" i="0">
                <a:solidFill>
                  <a:srgbClr val="F4ECE1"/>
                </a:solidFill>
                <a:latin typeface="Calibri"/>
              </a:rPr>
              <a:t>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9A8D7C"/>
                </a:solidFill>
                <a:latin typeface="Calibri"/>
              </a:rPr>
              <a:t>Java 17   ·   Maven   ·   Cucumber 7   ·   JUnit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28232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9A8D7C"/>
                </a:solidFill>
                <a:latin typeface="Calibr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2673F"/>
                </a:solidFill>
                <a:latin typeface="Calibri"/>
              </a:rPr>
              <a:t>1 · LE JEU CHOISI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F4ECE1"/>
                </a:solidFill>
                <a:latin typeface="Cambria"/>
              </a:rPr>
              <a:t>Kingdomino… Origins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166360" cy="2148840"/>
          </a:xfrm>
          <a:prstGeom prst="roundRect">
            <a:avLst>
              <a:gd name="adj" fmla="val 6000"/>
            </a:avLst>
          </a:prstGeom>
          <a:solidFill>
            <a:srgbClr val="241B14"/>
          </a:solidFill>
          <a:ln w="12700">
            <a:solidFill>
              <a:srgbClr val="3E2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212848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4ECE1"/>
                </a:solidFill>
                <a:latin typeface="Calibri"/>
              </a:rPr>
              <a:t>📋  </a:t>
            </a:r>
            <a:r>
              <a:rPr sz="1700" b="1" i="0">
                <a:solidFill>
                  <a:srgbClr val="C7BAA8"/>
                </a:solidFill>
                <a:latin typeface="Calibri"/>
              </a:rPr>
              <a:t>Proposé par le sujet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4663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F4ECE1"/>
                </a:solidFill>
                <a:latin typeface="Cambria"/>
              </a:rPr>
              <a:t>Kingdomino</a:t>
            </a:r>
          </a:p>
          <a:p>
            <a:pPr algn="l"/>
            <a:r>
              <a:rPr sz="1500" b="0" i="0">
                <a:solidFill>
                  <a:srgbClr val="C7BAA8"/>
                </a:solidFill>
                <a:latin typeface="Calibri"/>
              </a:rPr>
              <a:t>Pose de dominos sur une grille 5×5.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965960"/>
            <a:ext cx="5166360" cy="2148840"/>
          </a:xfrm>
          <a:prstGeom prst="roundRect">
            <a:avLst>
              <a:gd name="adj" fmla="val 6000"/>
            </a:avLst>
          </a:prstGeom>
          <a:solidFill>
            <a:srgbClr val="241B14"/>
          </a:solidFill>
          <a:ln w="22225">
            <a:solidFill>
              <a:srgbClr val="E267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3952" y="2212848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4ECE1"/>
                </a:solidFill>
                <a:latin typeface="Calibri"/>
              </a:rPr>
              <a:t>✅  </a:t>
            </a:r>
            <a:r>
              <a:rPr sz="1700" b="1" i="0">
                <a:solidFill>
                  <a:srgbClr val="E2673F"/>
                </a:solidFill>
                <a:latin typeface="Calibri"/>
              </a:rPr>
              <a:t>Notre choix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788920"/>
            <a:ext cx="46634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F4ECE1"/>
                </a:solidFill>
                <a:latin typeface="Cambria"/>
              </a:rPr>
              <a:t>Kingdomino </a:t>
            </a:r>
            <a:r>
              <a:rPr sz="2600" b="1" i="0">
                <a:solidFill>
                  <a:srgbClr val="E2673F"/>
                </a:solidFill>
                <a:latin typeface="Cambria"/>
              </a:rPr>
              <a:t>Origins</a:t>
            </a:r>
          </a:p>
          <a:p>
            <a:pPr algn="l"/>
            <a:r>
              <a:rPr sz="1500" b="0" i="0">
                <a:solidFill>
                  <a:srgbClr val="C7BAA8"/>
                </a:solidFill>
                <a:latin typeface="Calibri"/>
              </a:rPr>
              <a:t>L'édition enrichie de 2021 (Blue Orange).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3484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8B048"/>
                </a:solidFill>
                <a:latin typeface="Calibri"/>
              </a:rPr>
              <a:t>Origins ajoute : </a:t>
            </a:r>
            <a:r>
              <a:rPr sz="1500" b="0" i="0">
                <a:solidFill>
                  <a:srgbClr val="C7BAA8"/>
                </a:solidFill>
                <a:latin typeface="Calibri"/>
              </a:rPr>
              <a:t>🌋 volcans &amp; jetons Feu   ·   🦣 ressources &amp; tuiles Totem   ·   ⭐ bonus.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029200"/>
            <a:ext cx="10543032" cy="1097280"/>
          </a:xfrm>
          <a:prstGeom prst="roundRect">
            <a:avLst>
              <a:gd name="adj" fmla="val 10000"/>
            </a:avLst>
          </a:prstGeom>
          <a:solidFill>
            <a:srgbClr val="E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502920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7120E"/>
                </a:solidFill>
                <a:latin typeface="Calibri"/>
              </a:rPr>
              <a:t>🎯  Le but : construire son territoire 5×5 et marquer le plus de points.</a:t>
            </a:r>
          </a:p>
          <a:p>
            <a:pPr algn="l"/>
            <a:r>
              <a:rPr sz="1400" b="1" i="0">
                <a:solidFill>
                  <a:srgbClr val="17120E"/>
                </a:solidFill>
                <a:latin typeface="Calibri"/>
              </a:rPr>
              <a:t>Comment on marque : </a:t>
            </a:r>
            <a:r>
              <a:rPr sz="1400" b="0" i="0">
                <a:solidFill>
                  <a:srgbClr val="17120E"/>
                </a:solidFill>
                <a:latin typeface="Calibri"/>
              </a:rPr>
              <a:t>chaque région rapporte  (nombre de cases)  ×  (nombre d'icônes Feu qu'elle contient).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28232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9A8D7C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2673F"/>
                </a:solidFill>
                <a:latin typeface="Calibri"/>
              </a:rPr>
              <a:t>1 · LE JEU CHOISI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F4ECE1"/>
                </a:solidFill>
                <a:latin typeface="Cambria"/>
              </a:rPr>
              <a:t>Le plateau en un coup d'œil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57400"/>
            <a:ext cx="1335024" cy="621792"/>
          </a:xfrm>
          <a:prstGeom prst="roundRect">
            <a:avLst>
              <a:gd name="adj" fmla="val 13000"/>
            </a:avLst>
          </a:prstGeom>
          <a:solidFill>
            <a:srgbClr val="2B211A"/>
          </a:solidFill>
          <a:ln w="19050">
            <a:solidFill>
              <a:srgbClr val="9A8D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60120" y="2103120"/>
            <a:ext cx="594359" cy="530352"/>
          </a:xfrm>
          <a:prstGeom prst="roundRect">
            <a:avLst>
              <a:gd name="adj" fmla="val 16000"/>
            </a:avLst>
          </a:prstGeom>
          <a:solidFill>
            <a:srgbClr val="D9C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609344" y="2103120"/>
            <a:ext cx="594359" cy="530352"/>
          </a:xfrm>
          <a:prstGeom prst="roundRect">
            <a:avLst>
              <a:gd name="adj" fmla="val 16000"/>
            </a:avLst>
          </a:prstGeom>
          <a:solidFill>
            <a:srgbClr val="8A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340863" y="2057400"/>
            <a:ext cx="1335024" cy="621792"/>
          </a:xfrm>
          <a:prstGeom prst="roundRect">
            <a:avLst>
              <a:gd name="adj" fmla="val 13000"/>
            </a:avLst>
          </a:prstGeom>
          <a:solidFill>
            <a:srgbClr val="2B211A"/>
          </a:solidFill>
          <a:ln w="19050">
            <a:solidFill>
              <a:srgbClr val="9A8D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86583" y="2103120"/>
            <a:ext cx="594359" cy="530352"/>
          </a:xfrm>
          <a:prstGeom prst="roundRect">
            <a:avLst>
              <a:gd name="adj" fmla="val 16000"/>
            </a:avLst>
          </a:prstGeom>
          <a:solidFill>
            <a:srgbClr val="8A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035807" y="2103120"/>
            <a:ext cx="594359" cy="530352"/>
          </a:xfrm>
          <a:prstGeom prst="roundRect">
            <a:avLst>
              <a:gd name="adj" fmla="val 16000"/>
            </a:avLst>
          </a:prstGeom>
          <a:solidFill>
            <a:srgbClr val="4F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767328" y="2057400"/>
            <a:ext cx="621792" cy="1335024"/>
          </a:xfrm>
          <a:prstGeom prst="roundRect">
            <a:avLst>
              <a:gd name="adj" fmla="val 13000"/>
            </a:avLst>
          </a:prstGeom>
          <a:solidFill>
            <a:srgbClr val="2B211A"/>
          </a:solidFill>
          <a:ln w="19050">
            <a:solidFill>
              <a:srgbClr val="9A8D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813048" y="2103120"/>
            <a:ext cx="530352" cy="594359"/>
          </a:xfrm>
          <a:prstGeom prst="roundRect">
            <a:avLst>
              <a:gd name="adj" fmla="val 16000"/>
            </a:avLst>
          </a:prstGeom>
          <a:solidFill>
            <a:srgbClr val="6E9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813048" y="2752344"/>
            <a:ext cx="530352" cy="594359"/>
          </a:xfrm>
          <a:prstGeom prst="roundRect">
            <a:avLst>
              <a:gd name="adj" fmla="val 16000"/>
            </a:avLst>
          </a:prstGeom>
          <a:solidFill>
            <a:srgbClr val="6E9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2770632"/>
            <a:ext cx="1335024" cy="621792"/>
          </a:xfrm>
          <a:prstGeom prst="roundRect">
            <a:avLst>
              <a:gd name="adj" fmla="val 13000"/>
            </a:avLst>
          </a:prstGeom>
          <a:solidFill>
            <a:srgbClr val="2B211A"/>
          </a:solidFill>
          <a:ln w="19050">
            <a:solidFill>
              <a:srgbClr val="9A8D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60120" y="2816352"/>
            <a:ext cx="594359" cy="530352"/>
          </a:xfrm>
          <a:prstGeom prst="roundRect">
            <a:avLst>
              <a:gd name="adj" fmla="val 16000"/>
            </a:avLst>
          </a:prstGeom>
          <a:solidFill>
            <a:srgbClr val="D9C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609344" y="2816352"/>
            <a:ext cx="594359" cy="530352"/>
          </a:xfrm>
          <a:prstGeom prst="roundRect">
            <a:avLst>
              <a:gd name="adj" fmla="val 16000"/>
            </a:avLst>
          </a:prstGeom>
          <a:solidFill>
            <a:srgbClr val="8A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340863" y="2770632"/>
            <a:ext cx="1335024" cy="621792"/>
          </a:xfrm>
          <a:prstGeom prst="roundRect">
            <a:avLst>
              <a:gd name="adj" fmla="val 13000"/>
            </a:avLst>
          </a:prstGeom>
          <a:solidFill>
            <a:srgbClr val="2B211A"/>
          </a:solidFill>
          <a:ln w="19050">
            <a:solidFill>
              <a:srgbClr val="9A8D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386583" y="2816352"/>
            <a:ext cx="594359" cy="530352"/>
          </a:xfrm>
          <a:prstGeom prst="roundRect">
            <a:avLst>
              <a:gd name="adj" fmla="val 16000"/>
            </a:avLst>
          </a:prstGeom>
          <a:solidFill>
            <a:srgbClr val="8A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86583" y="2816352"/>
            <a:ext cx="594359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>
                <a:solidFill>
                  <a:srgbClr val="F4ECE1"/>
                </a:solidFill>
                <a:latin typeface="Calibri"/>
              </a:rPr>
              <a:t>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35807" y="2816352"/>
            <a:ext cx="594359" cy="530352"/>
          </a:xfrm>
          <a:prstGeom prst="roundRect">
            <a:avLst>
              <a:gd name="adj" fmla="val 16000"/>
            </a:avLst>
          </a:prstGeom>
          <a:solidFill>
            <a:srgbClr val="4F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4400" y="3483864"/>
            <a:ext cx="1335024" cy="621792"/>
          </a:xfrm>
          <a:prstGeom prst="roundRect">
            <a:avLst>
              <a:gd name="adj" fmla="val 13000"/>
            </a:avLst>
          </a:prstGeom>
          <a:solidFill>
            <a:srgbClr val="2B211A"/>
          </a:solidFill>
          <a:ln w="19050">
            <a:solidFill>
              <a:srgbClr val="9A8D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60120" y="3529584"/>
            <a:ext cx="594359" cy="530352"/>
          </a:xfrm>
          <a:prstGeom prst="roundRect">
            <a:avLst>
              <a:gd name="adj" fmla="val 16000"/>
            </a:avLst>
          </a:prstGeom>
          <a:solidFill>
            <a:srgbClr val="A0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609344" y="3529584"/>
            <a:ext cx="594359" cy="530352"/>
          </a:xfrm>
          <a:prstGeom prst="roundRect">
            <a:avLst>
              <a:gd name="adj" fmla="val 16000"/>
            </a:avLst>
          </a:prstGeom>
          <a:solidFill>
            <a:srgbClr val="8A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609344" y="3529584"/>
            <a:ext cx="594359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>
                <a:solidFill>
                  <a:srgbClr val="F4ECE1"/>
                </a:solidFill>
                <a:latin typeface="Calibri"/>
              </a:rPr>
              <a:t>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54096" y="3483864"/>
            <a:ext cx="1335024" cy="621792"/>
          </a:xfrm>
          <a:prstGeom prst="roundRect">
            <a:avLst>
              <a:gd name="adj" fmla="val 13000"/>
            </a:avLst>
          </a:prstGeom>
          <a:solidFill>
            <a:srgbClr val="2B211A"/>
          </a:solidFill>
          <a:ln w="19050">
            <a:solidFill>
              <a:srgbClr val="9A8D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099815" y="3529584"/>
            <a:ext cx="594359" cy="530352"/>
          </a:xfrm>
          <a:prstGeom prst="roundRect">
            <a:avLst>
              <a:gd name="adj" fmla="val 16000"/>
            </a:avLst>
          </a:prstGeom>
          <a:solidFill>
            <a:srgbClr val="8A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749039" y="3529584"/>
            <a:ext cx="594359" cy="530352"/>
          </a:xfrm>
          <a:prstGeom prst="roundRect">
            <a:avLst>
              <a:gd name="adj" fmla="val 16000"/>
            </a:avLst>
          </a:prstGeom>
          <a:solidFill>
            <a:srgbClr val="6E9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14400" y="4197096"/>
            <a:ext cx="1335024" cy="621792"/>
          </a:xfrm>
          <a:prstGeom prst="roundRect">
            <a:avLst>
              <a:gd name="adj" fmla="val 13000"/>
            </a:avLst>
          </a:prstGeom>
          <a:solidFill>
            <a:srgbClr val="2B211A"/>
          </a:solidFill>
          <a:ln w="19050">
            <a:solidFill>
              <a:srgbClr val="9A8D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60120" y="4242816"/>
            <a:ext cx="594359" cy="530352"/>
          </a:xfrm>
          <a:prstGeom prst="roundRect">
            <a:avLst>
              <a:gd name="adj" fmla="val 16000"/>
            </a:avLst>
          </a:prstGeom>
          <a:solidFill>
            <a:srgbClr val="A0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609344" y="4242816"/>
            <a:ext cx="594359" cy="530352"/>
          </a:xfrm>
          <a:prstGeom prst="roundRect">
            <a:avLst>
              <a:gd name="adj" fmla="val 16000"/>
            </a:avLst>
          </a:prstGeom>
          <a:solidFill>
            <a:srgbClr val="9A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340863" y="4197096"/>
            <a:ext cx="1335024" cy="621792"/>
          </a:xfrm>
          <a:prstGeom prst="roundRect">
            <a:avLst>
              <a:gd name="adj" fmla="val 13000"/>
            </a:avLst>
          </a:prstGeom>
          <a:solidFill>
            <a:srgbClr val="2B211A"/>
          </a:solidFill>
          <a:ln w="19050">
            <a:solidFill>
              <a:srgbClr val="9A8D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386583" y="4242816"/>
            <a:ext cx="594359" cy="530352"/>
          </a:xfrm>
          <a:prstGeom prst="roundRect">
            <a:avLst>
              <a:gd name="adj" fmla="val 16000"/>
            </a:avLst>
          </a:prstGeom>
          <a:solidFill>
            <a:srgbClr val="8A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035807" y="4242816"/>
            <a:ext cx="594359" cy="530352"/>
          </a:xfrm>
          <a:prstGeom prst="roundRect">
            <a:avLst>
              <a:gd name="adj" fmla="val 16000"/>
            </a:avLst>
          </a:prstGeom>
          <a:solidFill>
            <a:srgbClr val="8A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767328" y="4197096"/>
            <a:ext cx="621792" cy="1335024"/>
          </a:xfrm>
          <a:prstGeom prst="roundRect">
            <a:avLst>
              <a:gd name="adj" fmla="val 13000"/>
            </a:avLst>
          </a:prstGeom>
          <a:solidFill>
            <a:srgbClr val="2B211A"/>
          </a:solidFill>
          <a:ln w="19050">
            <a:solidFill>
              <a:srgbClr val="9A8D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813048" y="4242816"/>
            <a:ext cx="530352" cy="594359"/>
          </a:xfrm>
          <a:prstGeom prst="roundRect">
            <a:avLst>
              <a:gd name="adj" fmla="val 16000"/>
            </a:avLst>
          </a:prstGeom>
          <a:solidFill>
            <a:srgbClr val="6E9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813048" y="4892039"/>
            <a:ext cx="530352" cy="594359"/>
          </a:xfrm>
          <a:prstGeom prst="roundRect">
            <a:avLst>
              <a:gd name="adj" fmla="val 16000"/>
            </a:avLst>
          </a:prstGeom>
          <a:solidFill>
            <a:srgbClr val="6E9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14400" y="4910328"/>
            <a:ext cx="1335024" cy="621792"/>
          </a:xfrm>
          <a:prstGeom prst="roundRect">
            <a:avLst>
              <a:gd name="adj" fmla="val 13000"/>
            </a:avLst>
          </a:prstGeom>
          <a:solidFill>
            <a:srgbClr val="2B211A"/>
          </a:solidFill>
          <a:ln w="19050">
            <a:solidFill>
              <a:srgbClr val="9A8D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60120" y="4956048"/>
            <a:ext cx="594359" cy="530352"/>
          </a:xfrm>
          <a:prstGeom prst="roundRect">
            <a:avLst>
              <a:gd name="adj" fmla="val 16000"/>
            </a:avLst>
          </a:prstGeom>
          <a:solidFill>
            <a:srgbClr val="A0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609344" y="4956048"/>
            <a:ext cx="594359" cy="530352"/>
          </a:xfrm>
          <a:prstGeom prst="roundRect">
            <a:avLst>
              <a:gd name="adj" fmla="val 16000"/>
            </a:avLst>
          </a:prstGeom>
          <a:solidFill>
            <a:srgbClr val="9A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340863" y="4910328"/>
            <a:ext cx="1335024" cy="621792"/>
          </a:xfrm>
          <a:prstGeom prst="roundRect">
            <a:avLst>
              <a:gd name="adj" fmla="val 13000"/>
            </a:avLst>
          </a:prstGeom>
          <a:solidFill>
            <a:srgbClr val="2B211A"/>
          </a:solidFill>
          <a:ln w="19050">
            <a:solidFill>
              <a:srgbClr val="9A8D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386583" y="4956048"/>
            <a:ext cx="594359" cy="530352"/>
          </a:xfrm>
          <a:prstGeom prst="roundRect">
            <a:avLst>
              <a:gd name="adj" fmla="val 16000"/>
            </a:avLst>
          </a:prstGeom>
          <a:solidFill>
            <a:srgbClr val="D9C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3035807" y="4956048"/>
            <a:ext cx="594359" cy="530352"/>
          </a:xfrm>
          <a:prstGeom prst="roundRect">
            <a:avLst>
              <a:gd name="adj" fmla="val 16000"/>
            </a:avLst>
          </a:prstGeom>
          <a:solidFill>
            <a:srgbClr val="D9C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2340863" y="3483864"/>
            <a:ext cx="621792" cy="621792"/>
          </a:xfrm>
          <a:prstGeom prst="roundRect">
            <a:avLst>
              <a:gd name="adj" fmla="val 16000"/>
            </a:avLst>
          </a:prstGeom>
          <a:solidFill>
            <a:srgbClr val="E8B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2386583" y="3529584"/>
            <a:ext cx="530352" cy="530352"/>
          </a:xfrm>
          <a:prstGeom prst="roundRect">
            <a:avLst>
              <a:gd name="adj" fmla="val 16000"/>
            </a:avLst>
          </a:prstGeom>
          <a:solidFill>
            <a:srgbClr val="E8B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386583" y="3529584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0" i="0">
                <a:solidFill>
                  <a:srgbClr val="F4ECE1"/>
                </a:solidFill>
                <a:latin typeface="Calibri"/>
              </a:rPr>
              <a:t>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" y="585216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8A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335024" y="5852160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C7BAA8"/>
                </a:solidFill>
                <a:latin typeface="Calibri"/>
              </a:rPr>
              <a:t>Steppe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331720" y="585216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6E9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752344" y="5852160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C7BAA8"/>
                </a:solidFill>
                <a:latin typeface="Calibri"/>
              </a:rPr>
              <a:t>Lac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49039" y="585216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4F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69663" y="5852160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C7BAA8"/>
                </a:solidFill>
                <a:latin typeface="Calibri"/>
              </a:rPr>
              <a:t>Jungle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4400" y="630936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A0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335024" y="6309360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C7BAA8"/>
                </a:solidFill>
                <a:latin typeface="Calibri"/>
              </a:rPr>
              <a:t>Carrière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331720" y="630936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D9C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752344" y="6309360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C7BAA8"/>
                </a:solidFill>
                <a:latin typeface="Calibri"/>
              </a:rPr>
              <a:t>Désert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749039" y="6309360"/>
            <a:ext cx="292608" cy="292608"/>
          </a:xfrm>
          <a:prstGeom prst="roundRect">
            <a:avLst>
              <a:gd name="adj" fmla="val 20000"/>
            </a:avLst>
          </a:prstGeom>
          <a:solidFill>
            <a:srgbClr val="9A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169663" y="6309360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C7BAA8"/>
                </a:solidFill>
                <a:latin typeface="Calibri"/>
              </a:rPr>
              <a:t>Volcan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0" y="2057400"/>
            <a:ext cx="6355080" cy="1143000"/>
          </a:xfrm>
          <a:prstGeom prst="roundRect">
            <a:avLst>
              <a:gd name="adj" fmla="val 6000"/>
            </a:avLst>
          </a:prstGeom>
          <a:solidFill>
            <a:srgbClr val="241B14"/>
          </a:solidFill>
          <a:ln w="12700">
            <a:solidFill>
              <a:srgbClr val="3E2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5285232" y="2359152"/>
            <a:ext cx="548640" cy="548640"/>
          </a:xfrm>
          <a:prstGeom prst="ellipse">
            <a:avLst/>
          </a:prstGeom>
          <a:solidFill>
            <a:srgbClr val="2E2219"/>
          </a:solidFill>
          <a:ln w="19050">
            <a:solidFill>
              <a:srgbClr val="E267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85232" y="235915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F4ECE1"/>
                </a:solidFill>
                <a:latin typeface="Calibri"/>
              </a:rPr>
              <a:t>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89320" y="2276856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4ECE1"/>
                </a:solidFill>
                <a:latin typeface="Cambria"/>
              </a:rPr>
              <a:t>La tuile de départ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2679192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C7BAA8"/>
                </a:solidFill>
                <a:latin typeface="Calibri"/>
              </a:rPr>
              <a:t>Au centre — c'est un joker : tout terrain peut s'y connecter.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29200" y="3337560"/>
            <a:ext cx="6355080" cy="1143000"/>
          </a:xfrm>
          <a:prstGeom prst="roundRect">
            <a:avLst>
              <a:gd name="adj" fmla="val 6000"/>
            </a:avLst>
          </a:prstGeom>
          <a:solidFill>
            <a:srgbClr val="241B14"/>
          </a:solidFill>
          <a:ln w="12700">
            <a:solidFill>
              <a:srgbClr val="3E2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5148072" y="3721608"/>
            <a:ext cx="603504" cy="402336"/>
          </a:xfrm>
          <a:prstGeom prst="roundRect">
            <a:avLst>
              <a:gd name="adj" fmla="val 16000"/>
            </a:avLst>
          </a:prstGeom>
          <a:solidFill>
            <a:srgbClr val="2B211A"/>
          </a:solidFill>
          <a:ln w="15875">
            <a:solidFill>
              <a:srgbClr val="9A8D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5184648" y="3767328"/>
            <a:ext cx="242316" cy="310896"/>
          </a:xfrm>
          <a:prstGeom prst="roundRect">
            <a:avLst>
              <a:gd name="adj" fmla="val 18000"/>
            </a:avLst>
          </a:prstGeom>
          <a:solidFill>
            <a:srgbClr val="8A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5472683" y="3767328"/>
            <a:ext cx="242316" cy="310896"/>
          </a:xfrm>
          <a:prstGeom prst="roundRect">
            <a:avLst>
              <a:gd name="adj" fmla="val 18000"/>
            </a:avLst>
          </a:prstGeom>
          <a:solidFill>
            <a:srgbClr val="6E9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989320" y="3557015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4ECE1"/>
                </a:solidFill>
                <a:latin typeface="Cambria"/>
              </a:rPr>
              <a:t>Un domino = 2 cases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89320" y="3959352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C7BAA8"/>
                </a:solidFill>
                <a:latin typeface="Calibri"/>
              </a:rPr>
              <a:t>On le pose en reliant un terrain identique (ou le château).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029200" y="4617720"/>
            <a:ext cx="6355080" cy="1143000"/>
          </a:xfrm>
          <a:prstGeom prst="roundRect">
            <a:avLst>
              <a:gd name="adj" fmla="val 6000"/>
            </a:avLst>
          </a:prstGeom>
          <a:solidFill>
            <a:srgbClr val="241B14"/>
          </a:solidFill>
          <a:ln w="12700">
            <a:solidFill>
              <a:srgbClr val="3E2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5285232" y="4919472"/>
            <a:ext cx="548640" cy="548640"/>
          </a:xfrm>
          <a:prstGeom prst="ellipse">
            <a:avLst/>
          </a:prstGeom>
          <a:solidFill>
            <a:srgbClr val="2E2219"/>
          </a:solidFill>
          <a:ln w="19050">
            <a:solidFill>
              <a:srgbClr val="E267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285232" y="491947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F4ECE1"/>
                </a:solidFill>
                <a:latin typeface="Calibri"/>
              </a:rPr>
              <a:t>🔥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89320" y="4837176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4ECE1"/>
                </a:solidFill>
                <a:latin typeface="Cambria"/>
              </a:rPr>
              <a:t>Le score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89320" y="5239512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C7BAA8"/>
                </a:solidFill>
                <a:latin typeface="Calibri"/>
              </a:rPr>
              <a:t>Région (cases reliées, même terrain) × ses icônes Feu. Volcan = 0.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6428232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9A8D7C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2673F"/>
                </a:solidFill>
                <a:latin typeface="Calibri"/>
              </a:rPr>
              <a:t>2 · LE PÉRIMÈTRE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F4ECE1"/>
                </a:solidFill>
                <a:latin typeface="Cambria"/>
              </a:rPr>
              <a:t>Le périmètre implémenté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6766560" cy="4160520"/>
          </a:xfrm>
          <a:prstGeom prst="roundRect">
            <a:avLst>
              <a:gd name="adj" fmla="val 6000"/>
            </a:avLst>
          </a:prstGeom>
          <a:solidFill>
            <a:srgbClr val="241B14"/>
          </a:solidFill>
          <a:ln w="22225">
            <a:solidFill>
              <a:srgbClr val="9DB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258568"/>
            <a:ext cx="6126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F4ECE1"/>
                </a:solidFill>
                <a:latin typeface="Calibri"/>
              </a:rPr>
              <a:t>✅  </a:t>
            </a:r>
            <a:r>
              <a:rPr sz="2000" b="1" i="0">
                <a:solidFill>
                  <a:srgbClr val="9DBB84"/>
                </a:solidFill>
                <a:latin typeface="Cambria"/>
              </a:rPr>
              <a:t>Implémenté</a:t>
            </a:r>
            <a:r>
              <a:rPr sz="1400" b="0" i="1">
                <a:solidFill>
                  <a:srgbClr val="C7BAA8"/>
                </a:solidFill>
                <a:latin typeface="Calibri"/>
              </a:rPr>
              <a:t>   — quasiment tout le jeu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108960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9DBB84"/>
                </a:solidFill>
                <a:latin typeface="Calibri"/>
              </a:rPr>
              <a:t>① Mode Découverte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493008"/>
            <a:ext cx="6126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C7BAA8"/>
                </a:solidFill>
                <a:latin typeface="Calibri"/>
              </a:rPr>
              <a:t>Le socle complet : draft, placement, volcans &amp; jetons Feu, scoring des régions.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096512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E8B048"/>
                </a:solidFill>
                <a:latin typeface="Calibri"/>
              </a:rPr>
              <a:t>② Mode Totem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80560"/>
            <a:ext cx="6126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C7BAA8"/>
                </a:solidFill>
                <a:latin typeface="Calibri"/>
              </a:rPr>
              <a:t>En plus : ressources, tuiles Totem à la majorité, scoring enrichi.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084064"/>
            <a:ext cx="6126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E2673F"/>
                </a:solidFill>
                <a:latin typeface="Calibri"/>
              </a:rPr>
              <a:t>⭐ Bonus optionnels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468112"/>
            <a:ext cx="6126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C7BAA8"/>
                </a:solidFill>
                <a:latin typeface="Calibri"/>
              </a:rPr>
              <a:t>Empire du Feu (+10) &amp; Homo Habilis (+5), dans les deux modes.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965960"/>
            <a:ext cx="3547872" cy="4160520"/>
          </a:xfrm>
          <a:prstGeom prst="roundRect">
            <a:avLst>
              <a:gd name="adj" fmla="val 6000"/>
            </a:avLst>
          </a:prstGeom>
          <a:solidFill>
            <a:srgbClr val="241B14"/>
          </a:solidFill>
          <a:ln w="12700">
            <a:solidFill>
              <a:srgbClr val="3E2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2258568"/>
            <a:ext cx="29992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F4ECE1"/>
                </a:solidFill>
                <a:latin typeface="Calibri"/>
              </a:rPr>
              <a:t>🚫  </a:t>
            </a:r>
            <a:r>
              <a:rPr sz="1900" b="1" i="0">
                <a:solidFill>
                  <a:srgbClr val="9A8D7C"/>
                </a:solidFill>
                <a:latin typeface="Cambria"/>
              </a:rPr>
              <a:t>Hors périmètre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971800"/>
            <a:ext cx="2999232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C7BAA8"/>
                </a:solidFill>
                <a:latin typeface="Calibri"/>
              </a:rPr>
              <a:t>•  Mode Tribu</a:t>
            </a:r>
          </a:p>
          <a:p>
            <a:pPr algn="l">
              <a:spcAft>
                <a:spcPts val="1400"/>
              </a:spcAft>
            </a:pPr>
            <a:r>
              <a:rPr sz="1200" b="0" i="1">
                <a:solidFill>
                  <a:srgbClr val="9A8D7C"/>
                </a:solidFill>
                <a:latin typeface="Calibri"/>
              </a:rPr>
              <a:t>     Cro-magnons, plateau Grotte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C7BAA8"/>
                </a:solidFill>
                <a:latin typeface="Calibri"/>
              </a:rPr>
              <a:t>•  Variante 2 joueurs</a:t>
            </a:r>
          </a:p>
          <a:p>
            <a:pPr algn="l">
              <a:spcAft>
                <a:spcPts val="1400"/>
              </a:spcAft>
            </a:pPr>
            <a:r>
              <a:rPr sz="1200" b="0" i="1">
                <a:solidFill>
                  <a:srgbClr val="9A8D7C"/>
                </a:solidFill>
                <a:latin typeface="Calibri"/>
              </a:rPr>
              <a:t>     Grille 7×7 (Néolithique)</a:t>
            </a:r>
          </a:p>
          <a:p>
            <a:pPr algn="l"/>
            <a:r>
              <a:rPr sz="1500" b="0" i="0">
                <a:solidFill>
                  <a:srgbClr val="C7BAA8"/>
                </a:solidFill>
                <a:latin typeface="Calibri"/>
              </a:rPr>
              <a:t>•  Extensions non officielles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5577840"/>
            <a:ext cx="29992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1">
                <a:solidFill>
                  <a:srgbClr val="9A8D7C"/>
                </a:solidFill>
                <a:latin typeface="Calibri"/>
              </a:rPr>
              <a:t>Choix assumé et documenté.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28232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9A8D7C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2673F"/>
                </a:solidFill>
                <a:latin typeface="Calibri"/>
              </a:rPr>
              <a:t>3 · CONCEPTION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F4ECE1"/>
                </a:solidFill>
                <a:latin typeface="Cambria"/>
              </a:rPr>
              <a:t>Architecture : domaine /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349240" cy="2514600"/>
          </a:xfrm>
          <a:prstGeom prst="roundRect">
            <a:avLst>
              <a:gd name="adj" fmla="val 6000"/>
            </a:avLst>
          </a:prstGeom>
          <a:solidFill>
            <a:srgbClr val="241B14"/>
          </a:solidFill>
          <a:ln w="22225">
            <a:solidFill>
              <a:srgbClr val="E267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21284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2673F"/>
                </a:solidFill>
                <a:latin typeface="Calibri"/>
              </a:rPr>
              <a:t>DOMAINE</a:t>
            </a:r>
            <a:r>
              <a:rPr sz="1300" b="0" i="1">
                <a:solidFill>
                  <a:srgbClr val="9A8D7C"/>
                </a:solidFill>
                <a:latin typeface="Calibri"/>
              </a:rPr>
              <a:t>   src/main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48463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 i="1">
                <a:solidFill>
                  <a:srgbClr val="C7BAA8"/>
                </a:solidFill>
                <a:latin typeface="Calibri"/>
              </a:rPr>
              <a:t>Le métier, en Java pur :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 i="0">
                <a:solidFill>
                  <a:srgbClr val="F4ECE1"/>
                </a:solidFill>
                <a:latin typeface="Calibri"/>
              </a:rPr>
              <a:t>plateau, tuiles, régions, scoring, totems.</a:t>
            </a:r>
          </a:p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F4ECE1"/>
                </a:solidFill>
                <a:latin typeface="Calibri"/>
              </a:rPr>
              <a:t>Zéro dépendance au framework BDD.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965960"/>
            <a:ext cx="5056632" cy="2514600"/>
          </a:xfrm>
          <a:prstGeom prst="roundRect">
            <a:avLst>
              <a:gd name="adj" fmla="val 6000"/>
            </a:avLst>
          </a:prstGeom>
          <a:solidFill>
            <a:srgbClr val="241B14"/>
          </a:solidFill>
          <a:ln w="22225">
            <a:solidFill>
              <a:srgbClr val="9DB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2212848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9DBB84"/>
                </a:solidFill>
                <a:latin typeface="Calibri"/>
              </a:rPr>
              <a:t>STEPS BDD</a:t>
            </a:r>
            <a:r>
              <a:rPr sz="1300" b="0" i="1">
                <a:solidFill>
                  <a:srgbClr val="9A8D7C"/>
                </a:solidFill>
                <a:latin typeface="Calibri"/>
              </a:rPr>
              <a:t>   src/test — Cucumber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88920"/>
            <a:ext cx="45720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 i="1">
                <a:solidFill>
                  <a:srgbClr val="C7BAA8"/>
                </a:solidFill>
                <a:latin typeface="Calibri"/>
              </a:rPr>
              <a:t>L'orchestration, uniquement :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 i="0">
                <a:solidFill>
                  <a:srgbClr val="F4ECE1"/>
                </a:solidFill>
                <a:latin typeface="Calibri"/>
              </a:rPr>
              <a:t>les steps appellent le domaine et vérifient.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F4ECE1"/>
                </a:solidFill>
                <a:latin typeface="Calibri"/>
              </a:rPr>
              <a:t>État partagé via PicoContainer.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663440"/>
            <a:ext cx="10543032" cy="777240"/>
          </a:xfrm>
          <a:prstGeom prst="roundRect">
            <a:avLst>
              <a:gd name="adj" fmla="val 10000"/>
            </a:avLst>
          </a:prstGeom>
          <a:solidFill>
            <a:srgbClr val="E26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4663440"/>
            <a:ext cx="999439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7120E"/>
                </a:solidFill>
                <a:latin typeface="Calibri"/>
              </a:rPr>
              <a:t>➡  Les steps appellent le domaine — jamais l'inverse.  Le domaine reste réutilisable (tests unitaires, CLI…).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2356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F4ECE1"/>
                </a:solidFill>
                <a:latin typeface="Calibri"/>
              </a:rPr>
              <a:t>🎲  </a:t>
            </a:r>
            <a:r>
              <a:rPr sz="1500" b="1" i="0">
                <a:solidFill>
                  <a:srgbClr val="E8B048"/>
                </a:solidFill>
                <a:latin typeface="Calibri"/>
              </a:rPr>
              <a:t>Déterminisme : </a:t>
            </a:r>
            <a:r>
              <a:rPr sz="1500" b="0" i="0">
                <a:solidFill>
                  <a:srgbClr val="C7BAA8"/>
                </a:solidFill>
                <a:latin typeface="Calibri"/>
              </a:rPr>
              <a:t>l'aléatoire (pioche) est neutralisé par une seed → scénarios 100 % reproductibles.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28232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9A8D7C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2673F"/>
                </a:solidFill>
                <a:latin typeface="Calibri"/>
              </a:rPr>
              <a:t>POUR FINIR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F4ECE1"/>
                </a:solidFill>
                <a:latin typeface="Cambria"/>
              </a:rPr>
              <a:t>À retenir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3465576" cy="2011680"/>
          </a:xfrm>
          <a:prstGeom prst="roundRect">
            <a:avLst>
              <a:gd name="adj" fmla="val 6000"/>
            </a:avLst>
          </a:prstGeom>
          <a:solidFill>
            <a:srgbClr val="241B14"/>
          </a:solidFill>
          <a:ln w="22225">
            <a:solidFill>
              <a:srgbClr val="E8B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" y="2697480"/>
            <a:ext cx="685800" cy="685800"/>
          </a:xfrm>
          <a:prstGeom prst="ellipse">
            <a:avLst/>
          </a:prstGeom>
          <a:solidFill>
            <a:srgbClr val="2E2219"/>
          </a:solidFill>
          <a:ln w="19050">
            <a:solidFill>
              <a:srgbClr val="E267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F4ECE1"/>
                </a:solidFill>
                <a:latin typeface="Calibri"/>
              </a:rPr>
              <a:t>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20440"/>
            <a:ext cx="29169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4ECE1"/>
                </a:solidFill>
                <a:latin typeface="Cambria"/>
              </a:rPr>
              <a:t>Presque tout le jeu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31920"/>
            <a:ext cx="29169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C7BAA8"/>
                </a:solidFill>
                <a:latin typeface="Calibri"/>
              </a:rPr>
              <a:t>Kingdomino Origins sur 2 modes (Découverte + Totem).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2377440"/>
            <a:ext cx="3465576" cy="2011680"/>
          </a:xfrm>
          <a:prstGeom prst="roundRect">
            <a:avLst>
              <a:gd name="adj" fmla="val 6000"/>
            </a:avLst>
          </a:prstGeom>
          <a:solidFill>
            <a:srgbClr val="241B14"/>
          </a:solidFill>
          <a:ln w="22225">
            <a:solidFill>
              <a:srgbClr val="E267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81728" y="2697480"/>
            <a:ext cx="685800" cy="685800"/>
          </a:xfrm>
          <a:prstGeom prst="ellipse">
            <a:avLst/>
          </a:prstGeom>
          <a:solidFill>
            <a:srgbClr val="2E2219"/>
          </a:solidFill>
          <a:ln w="19050">
            <a:solidFill>
              <a:srgbClr val="9DB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269748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F4ECE1"/>
                </a:solidFill>
                <a:latin typeface="Calibri"/>
              </a:rPr>
              <a:t>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3520440"/>
            <a:ext cx="29169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4ECE1"/>
                </a:solidFill>
                <a:latin typeface="Cambria"/>
              </a:rPr>
              <a:t>Domaine découplé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3931920"/>
            <a:ext cx="29169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C7BAA8"/>
                </a:solidFill>
                <a:latin typeface="Calibri"/>
              </a:rPr>
              <a:t>Java pur et réutilisable ; les steps orchestrent seulement.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2377440"/>
            <a:ext cx="3465576" cy="2011680"/>
          </a:xfrm>
          <a:prstGeom prst="roundRect">
            <a:avLst>
              <a:gd name="adj" fmla="val 6000"/>
            </a:avLst>
          </a:prstGeom>
          <a:solidFill>
            <a:srgbClr val="241B14"/>
          </a:solidFill>
          <a:ln w="22225">
            <a:solidFill>
              <a:srgbClr val="E8B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66176" y="2697480"/>
            <a:ext cx="685800" cy="685800"/>
          </a:xfrm>
          <a:prstGeom prst="ellipse">
            <a:avLst/>
          </a:prstGeom>
          <a:solidFill>
            <a:srgbClr val="2E2219"/>
          </a:solidFill>
          <a:ln w="19050">
            <a:solidFill>
              <a:srgbClr val="E267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6176" y="269748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i="0">
                <a:solidFill>
                  <a:srgbClr val="F4ECE1"/>
                </a:solidFill>
                <a:latin typeface="Calibri"/>
              </a:rPr>
              <a:t>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3520440"/>
            <a:ext cx="29169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4ECE1"/>
                </a:solidFill>
                <a:latin typeface="Cambria"/>
              </a:rPr>
              <a:t>Reproductible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3931920"/>
            <a:ext cx="29169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C7BAA8"/>
                </a:solidFill>
                <a:latin typeface="Calibri"/>
              </a:rPr>
              <a:t>Aléatoire neutralisé par une seed explicite.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29200"/>
            <a:ext cx="1054303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1">
                <a:solidFill>
                  <a:srgbClr val="E8B048"/>
                </a:solidFill>
                <a:latin typeface="Cambria"/>
              </a:rPr>
              <a:t>Merci — place à la démonstration.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28232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9A8D7C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851</Words>
  <Application>Microsoft Office PowerPoint</Application>
  <PresentationFormat>Grand écran</PresentationFormat>
  <Paragraphs>110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Lior Lichten</cp:lastModifiedBy>
  <cp:revision>2</cp:revision>
  <dcterms:created xsi:type="dcterms:W3CDTF">2013-01-27T09:14:16Z</dcterms:created>
  <dcterms:modified xsi:type="dcterms:W3CDTF">2026-07-28T19:52:22Z</dcterms:modified>
  <cp:category/>
</cp:coreProperties>
</file>